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56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3955A1-E0D0-4E0B-AA38-B6DEC5D468D7}" type="datetimeFigureOut">
              <a:rPr lang="ko-KR" altLang="en-US" smtClean="0"/>
              <a:t>2025-08-31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99C9E-2326-4C96-9327-872BFFFA7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42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99C9E-2326-4C96-9327-872BFFFA7D7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369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7C33AF-B765-3C83-EF05-893F0351A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75383F-DF0C-817C-1D6D-C494AD88B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6122D9-84A4-F628-16BA-5725144E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B1CB8-D2FE-4007-8FFD-96A4823C2EF3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FBA08F-937E-B152-B68F-B4E307127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446F4A-D1D2-1CD7-2805-040777421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0351-16FA-4036-A3AF-D8982DEE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01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F16314-826E-BC8C-35AD-F53A0506C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81030A-D8DE-9DF2-4443-5CD42E2AF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815F09-C665-4923-99E7-C53B49B4F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B1CB8-D2FE-4007-8FFD-96A4823C2EF3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86176E-F848-4AF3-ED9D-20604611B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CA1870-8CF8-6305-C7CA-FA1B460E4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0351-16FA-4036-A3AF-D8982DEE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607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F1156B-37AA-EBE9-8184-931B1C4B7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641C07-07D6-5344-56C3-632AAC19C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813C6D-BDC5-2071-3DD8-AA8E2A4AC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B1CB8-D2FE-4007-8FFD-96A4823C2EF3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81D811-F946-C778-35C2-2B1CB3108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296BC5-7953-DAF5-74A7-0ADA9C26F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0351-16FA-4036-A3AF-D8982DEE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48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6644F-8985-321A-CDE8-1BA9F542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DEBACD-E8AB-645E-C4B8-A68B65A6BF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3FE271-263B-0DAB-DAB8-DF34BE294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2B5647-7549-3161-1792-CA741F39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B1CB8-D2FE-4007-8FFD-96A4823C2EF3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8A5995-3F16-C3CE-2B9D-A9E7E063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FF6544-B408-8386-D186-60E113DF5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0351-16FA-4036-A3AF-D8982DEE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97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F02C2-22F6-BA90-0038-8B5F7E085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630E93-25CA-D36E-8458-996D6BC0C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A7D5C9-F614-A665-90D7-02DA79FEA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298541-2214-CB17-900D-2E2011F3C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8C608D-648F-C9CA-BAE2-8764A3273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C44E942-5873-E49A-5715-611DC6840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B1CB8-D2FE-4007-8FFD-96A4823C2EF3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02F515B-C6D3-D104-9C9F-59EA41C3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CD7083-6333-9F1D-098F-C3C7B81F0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0351-16FA-4036-A3AF-D8982DEE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920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5ABEC-0F51-E8D6-EF3D-0B0A76A2D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5F48AD-A288-112A-EF66-07A2D1C92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B1CB8-D2FE-4007-8FFD-96A4823C2EF3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3D0341-E79F-86C6-E2CE-04FF951E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BB9EAD-8618-5353-0372-CF309B3D4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0351-16FA-4036-A3AF-D8982DEE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706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E29EDD-4C11-CE57-6E6E-7ED531DD3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B1CB8-D2FE-4007-8FFD-96A4823C2EF3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8C4739-7EB6-8F1A-9B33-ED34DB303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6680BE-A3F9-EF93-7444-262F35A2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0351-16FA-4036-A3AF-D8982DEE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260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765ED-DEC1-C35D-300F-8FBE67B1E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DD24F1-1A81-4712-24BC-6ED65C84F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68CEC7-09FB-6D1D-FA45-A22C45EB0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2CAA60-9472-A859-7CDE-6465193D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B1CB8-D2FE-4007-8FFD-96A4823C2EF3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1C7547-DC37-7ADC-B9D6-81A3C9327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DE3E75-5535-F73D-A085-08243321F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0351-16FA-4036-A3AF-D8982DEE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65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CA60D-7EC0-CF79-B50F-290486467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009A0A-79EF-CA0B-A46E-D431D0AC7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914A1E-61DF-A1C5-F1EB-4AD85D824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26C21-1569-04B4-D01A-6D101A24A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B1CB8-D2FE-4007-8FFD-96A4823C2EF3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67477-FCCF-8573-952B-B0B1A0955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C62358-F380-3B65-7C57-FAFD011A4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0351-16FA-4036-A3AF-D8982DEE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766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38015-576F-A15E-846A-D596DF70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5DF96D-0B16-FBEE-595D-83A5FE20A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8C06D8-6D53-E55A-074B-D229B1A91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B1CB8-D2FE-4007-8FFD-96A4823C2EF3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36CA83-1029-2FBE-7FE5-E0B39747E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28E58E-48DC-EF47-3539-931E8449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0351-16FA-4036-A3AF-D8982DEE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054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13BB0D-9BFC-2CCC-6072-AEBD81BEB7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D5EE8E-38CC-2560-339B-17001468C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64674B-FA0C-38D6-66B6-FE8513596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B1CB8-D2FE-4007-8FFD-96A4823C2EF3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762E25-B25F-5A8A-E6D7-7FF632FC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AD00ED-BA19-4283-0D54-5E448C07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0351-16FA-4036-A3AF-D8982DEE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921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547FBD-BAF4-DB0F-A0C1-F0D7D0FBE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829497-24BD-0F93-7E73-F9ADD60D1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82D982-BD17-BC1F-EE39-E0C497DD5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2B1CB8-D2FE-4007-8FFD-96A4823C2EF3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9A8997-27D9-FFF1-B65E-99F1FC30F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9BBCEF-A7B9-6EA2-CE38-D5CD1E550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9E0351-16FA-4036-A3AF-D8982DEE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47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A2A7-2DCF-5056-5D80-B23D02922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C3A14A-AD78-6DED-BA47-1C2B060AFE6F}"/>
              </a:ext>
            </a:extLst>
          </p:cNvPr>
          <p:cNvSpPr txBox="1"/>
          <p:nvPr/>
        </p:nvSpPr>
        <p:spPr>
          <a:xfrm>
            <a:off x="385312" y="507186"/>
            <a:ext cx="869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문장 기반 매칭 시스템 평가 설문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8F82F4-42BB-B3A5-B37A-981CD564DCA9}"/>
              </a:ext>
            </a:extLst>
          </p:cNvPr>
          <p:cNvSpPr txBox="1"/>
          <p:nvPr/>
        </p:nvSpPr>
        <p:spPr>
          <a:xfrm>
            <a:off x="431320" y="1291088"/>
            <a:ext cx="8695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온라인 게시글 간 연결 적합성 판단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2E19E5-156D-EAA4-3CF6-F1A52A3EA7C0}"/>
              </a:ext>
            </a:extLst>
          </p:cNvPr>
          <p:cNvSpPr txBox="1"/>
          <p:nvPr/>
        </p:nvSpPr>
        <p:spPr>
          <a:xfrm>
            <a:off x="448573" y="1879138"/>
            <a:ext cx="11294854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온라인에서 사람들이 올리는 다양한 </a:t>
            </a:r>
            <a:r>
              <a:rPr lang="ko-KR" altLang="en-US" dirty="0" err="1"/>
              <a:t>게시글들</a:t>
            </a:r>
            <a:r>
              <a:rPr lang="ko-KR" altLang="en-US" dirty="0"/>
              <a:t> 중 어떤 것들이 서로 연결되면 좋을지 판단하는 연구입니다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완벽히 같은 내용이 아니어도</a:t>
            </a:r>
            <a:r>
              <a:rPr lang="en-US" altLang="ko-KR" dirty="0"/>
              <a:t>, </a:t>
            </a:r>
            <a:r>
              <a:rPr lang="ko-KR" altLang="en-US" dirty="0"/>
              <a:t>서로에게 도움이 되거나 의미 있는 연결을 찾는 것이 목표입니다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사람의 직관적 판단을 반영하여 </a:t>
            </a:r>
            <a:r>
              <a:rPr lang="en-US" altLang="ko-KR" dirty="0"/>
              <a:t>AI </a:t>
            </a:r>
            <a:r>
              <a:rPr lang="ko-KR" altLang="en-US" dirty="0"/>
              <a:t>매칭 시스템의 성능을 평가하고자 합니다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7A938E-5580-7BD7-D20E-B0263FFE4CC9}"/>
              </a:ext>
            </a:extLst>
          </p:cNvPr>
          <p:cNvSpPr txBox="1"/>
          <p:nvPr/>
        </p:nvSpPr>
        <p:spPr>
          <a:xfrm>
            <a:off x="431319" y="3835878"/>
            <a:ext cx="8695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설문 방법</a:t>
            </a:r>
            <a:endParaRPr lang="en-US" altLang="ko-KR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53C834-F85A-B87D-FA55-1681CD5E2A42}"/>
              </a:ext>
            </a:extLst>
          </p:cNvPr>
          <p:cNvSpPr txBox="1"/>
          <p:nvPr/>
        </p:nvSpPr>
        <p:spPr>
          <a:xfrm>
            <a:off x="448573" y="4346304"/>
            <a:ext cx="11076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각 문항에서 원본 포스트를 읽고</a:t>
            </a:r>
            <a:r>
              <a:rPr lang="en-US" altLang="ko-KR" dirty="0"/>
              <a:t>, A</a:t>
            </a:r>
            <a:r>
              <a:rPr lang="ko-KR" altLang="en-US" dirty="0"/>
              <a:t>와 </a:t>
            </a:r>
            <a:r>
              <a:rPr lang="en-US" altLang="ko-KR" dirty="0"/>
              <a:t>B </a:t>
            </a:r>
            <a:r>
              <a:rPr lang="ko-KR" altLang="en-US" dirty="0"/>
              <a:t>두 후보 중 어느 쪽이 더 적절한 매칭인지 선택해주세요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둘 다 적절하다 혹은 적절하지 않다 생각될 경우에도</a:t>
            </a:r>
            <a:r>
              <a:rPr lang="en-US" altLang="ko-KR" dirty="0"/>
              <a:t>, </a:t>
            </a:r>
            <a:r>
              <a:rPr lang="ko-KR" altLang="en-US" dirty="0"/>
              <a:t>최대한 연관된 메시지를 선택해 주세요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1203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D9423A-AE4B-01D9-245E-A1014C78497F}"/>
              </a:ext>
            </a:extLst>
          </p:cNvPr>
          <p:cNvSpPr txBox="1"/>
          <p:nvPr/>
        </p:nvSpPr>
        <p:spPr>
          <a:xfrm>
            <a:off x="369497" y="2690336"/>
            <a:ext cx="116830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후보 </a:t>
            </a:r>
            <a:r>
              <a:rPr lang="en-US" altLang="ko-KR" dirty="0"/>
              <a:t>A: </a:t>
            </a:r>
            <a:r>
              <a:rPr lang="ko-KR" altLang="en-US" dirty="0"/>
              <a:t>햄버거 진짜 좋아하는데</a:t>
            </a:r>
            <a:r>
              <a:rPr lang="en-US" altLang="ko-KR" dirty="0"/>
              <a:t>, </a:t>
            </a:r>
            <a:r>
              <a:rPr lang="ko-KR" altLang="en-US" dirty="0"/>
              <a:t>맥날이나 롯데리아 버거는 </a:t>
            </a:r>
            <a:r>
              <a:rPr lang="ko-KR" altLang="en-US" dirty="0" err="1"/>
              <a:t>별로고</a:t>
            </a:r>
            <a:r>
              <a:rPr lang="en-US" altLang="ko-KR" dirty="0"/>
              <a:t>.. </a:t>
            </a:r>
            <a:r>
              <a:rPr lang="ko-KR" altLang="en-US" dirty="0" err="1"/>
              <a:t>맘터나</a:t>
            </a:r>
            <a:r>
              <a:rPr lang="ko-KR" altLang="en-US" dirty="0"/>
              <a:t> </a:t>
            </a:r>
            <a:r>
              <a:rPr lang="ko-KR" altLang="en-US" dirty="0" err="1"/>
              <a:t>버거킹도</a:t>
            </a:r>
            <a:r>
              <a:rPr lang="ko-KR" altLang="en-US" dirty="0"/>
              <a:t> </a:t>
            </a:r>
            <a:r>
              <a:rPr lang="ko-KR" altLang="en-US" dirty="0" err="1"/>
              <a:t>예전같지</a:t>
            </a:r>
            <a:r>
              <a:rPr lang="ko-KR" altLang="en-US" dirty="0"/>
              <a:t> 않아서 맛있는 </a:t>
            </a:r>
            <a:r>
              <a:rPr lang="ko-KR" altLang="en-US" dirty="0" err="1"/>
              <a:t>수제버거를</a:t>
            </a:r>
            <a:r>
              <a:rPr lang="ko-KR" altLang="en-US" dirty="0"/>
              <a:t> 많이 찾아보려고 </a:t>
            </a:r>
            <a:r>
              <a:rPr lang="ko-KR" altLang="en-US" dirty="0" err="1"/>
              <a:t>하눈</a:t>
            </a:r>
            <a:r>
              <a:rPr lang="ko-KR" altLang="en-US" dirty="0"/>
              <a:t> 편인데</a:t>
            </a:r>
            <a:r>
              <a:rPr lang="en-US" altLang="ko-KR" dirty="0"/>
              <a:t>, </a:t>
            </a:r>
            <a:r>
              <a:rPr lang="ko-KR" altLang="en-US" dirty="0"/>
              <a:t>우리 동네에 새로 생긴 </a:t>
            </a:r>
            <a:r>
              <a:rPr lang="ko-KR" altLang="en-US" dirty="0" err="1"/>
              <a:t>수제버거집</a:t>
            </a:r>
            <a:r>
              <a:rPr lang="ko-KR" altLang="en-US" dirty="0"/>
              <a:t> 햄버거가 진짜 맛있어서 </a:t>
            </a:r>
            <a:r>
              <a:rPr lang="ko-KR" altLang="en-US" dirty="0" err="1"/>
              <a:t>추천드립니다</a:t>
            </a:r>
            <a:r>
              <a:rPr lang="en-US" altLang="ko-KR" dirty="0"/>
              <a:t>. (</a:t>
            </a:r>
            <a:r>
              <a:rPr lang="ko-KR" altLang="en-US" dirty="0"/>
              <a:t>관련된 사람이 </a:t>
            </a:r>
            <a:r>
              <a:rPr lang="ko-KR" altLang="en-US" dirty="0" err="1"/>
              <a:t>홍보하는게</a:t>
            </a:r>
            <a:r>
              <a:rPr lang="ko-KR" altLang="en-US" dirty="0"/>
              <a:t> 아니고 진짜 그냥 손님입니다</a:t>
            </a:r>
            <a:r>
              <a:rPr lang="en-US" altLang="ko-KR" dirty="0"/>
              <a:t>) </a:t>
            </a:r>
            <a:r>
              <a:rPr lang="ko-KR" altLang="en-US" dirty="0" err="1"/>
              <a:t>파일버거</a:t>
            </a:r>
            <a:r>
              <a:rPr lang="ko-KR" altLang="en-US" dirty="0"/>
              <a:t> 버거 종류가 다양한데 이 집은 일단 </a:t>
            </a:r>
            <a:r>
              <a:rPr lang="ko-KR" altLang="en-US" dirty="0" err="1"/>
              <a:t>브리오슈</a:t>
            </a:r>
            <a:r>
              <a:rPr lang="ko-KR" altLang="en-US" dirty="0"/>
              <a:t> 번</a:t>
            </a:r>
            <a:r>
              <a:rPr lang="en-US" altLang="ko-KR" dirty="0"/>
              <a:t>, </a:t>
            </a:r>
            <a:r>
              <a:rPr lang="ko-KR" altLang="en-US" dirty="0"/>
              <a:t>빵 자체가 맛있어서 모든 </a:t>
            </a:r>
            <a:r>
              <a:rPr lang="ko-KR" altLang="en-US" dirty="0" err="1"/>
              <a:t>버거가</a:t>
            </a:r>
            <a:r>
              <a:rPr lang="ko-KR" altLang="en-US" dirty="0"/>
              <a:t> 다 맛있더라구요</a:t>
            </a:r>
            <a:r>
              <a:rPr lang="en-US" altLang="ko-KR" dirty="0"/>
              <a:t>. </a:t>
            </a:r>
            <a:r>
              <a:rPr lang="ko-KR" altLang="en-US" dirty="0"/>
              <a:t>저는 주로 </a:t>
            </a:r>
            <a:r>
              <a:rPr lang="ko-KR" altLang="en-US" dirty="0" err="1"/>
              <a:t>시그니쳐버거</a:t>
            </a:r>
            <a:r>
              <a:rPr lang="ko-KR" altLang="en-US" dirty="0"/>
              <a:t> 세트에 </a:t>
            </a:r>
            <a:r>
              <a:rPr lang="ko-KR" altLang="en-US" dirty="0" err="1"/>
              <a:t>계란후라이</a:t>
            </a:r>
            <a:r>
              <a:rPr lang="ko-KR" altLang="en-US" dirty="0"/>
              <a:t> 추가해서 먹는 걸 좋아합니다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F318D-A569-96C4-576A-95F188CB4A9E}"/>
              </a:ext>
            </a:extLst>
          </p:cNvPr>
          <p:cNvSpPr txBox="1"/>
          <p:nvPr/>
        </p:nvSpPr>
        <p:spPr>
          <a:xfrm>
            <a:off x="369497" y="1333572"/>
            <a:ext cx="116111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원본 포스트</a:t>
            </a:r>
            <a:r>
              <a:rPr lang="en-US" altLang="ko-KR" dirty="0"/>
              <a:t>: </a:t>
            </a:r>
            <a:r>
              <a:rPr lang="ko-KR" altLang="en-US" dirty="0"/>
              <a:t>양재동 </a:t>
            </a:r>
            <a:r>
              <a:rPr lang="ko-KR" altLang="en-US" dirty="0" err="1"/>
              <a:t>버거에비뉴</a:t>
            </a:r>
            <a:r>
              <a:rPr lang="ko-KR" altLang="en-US" dirty="0"/>
              <a:t>  </a:t>
            </a:r>
            <a:r>
              <a:rPr lang="ko-KR" altLang="en-US" dirty="0" err="1"/>
              <a:t>교육개발원사거리쪽</a:t>
            </a:r>
            <a:r>
              <a:rPr lang="ko-KR" altLang="en-US" dirty="0"/>
              <a:t> 지나가다 발견한 곳인데 양재천 산책하시면서 </a:t>
            </a:r>
            <a:r>
              <a:rPr lang="ko-KR" altLang="en-US" dirty="0" err="1"/>
              <a:t>테이크아웃</a:t>
            </a:r>
            <a:r>
              <a:rPr lang="ko-KR" altLang="en-US" dirty="0"/>
              <a:t> 하셔도 </a:t>
            </a:r>
            <a:r>
              <a:rPr lang="ko-KR" altLang="en-US" dirty="0" err="1"/>
              <a:t>좋을듯해여</a:t>
            </a:r>
            <a:r>
              <a:rPr lang="en-US" altLang="ko-KR" dirty="0"/>
              <a:t>,, </a:t>
            </a:r>
            <a:r>
              <a:rPr lang="ko-KR" altLang="en-US" dirty="0"/>
              <a:t>음식 퀄리티도 너무 좋고 </a:t>
            </a:r>
            <a:r>
              <a:rPr lang="ko-KR" altLang="en-US" dirty="0" err="1"/>
              <a:t>가격에비해</a:t>
            </a:r>
            <a:r>
              <a:rPr lang="ko-KR" altLang="en-US" dirty="0"/>
              <a:t> 너무 맛있고 아침에 </a:t>
            </a:r>
            <a:r>
              <a:rPr lang="ko-KR" altLang="en-US" dirty="0" err="1"/>
              <a:t>좋은재료로</a:t>
            </a:r>
            <a:r>
              <a:rPr lang="ko-KR" altLang="en-US" dirty="0"/>
              <a:t> 만드신다 하시더라구요 다들 지나가시다가 한번 가보세요 </a:t>
            </a:r>
            <a:r>
              <a:rPr lang="ko-KR" altLang="en-US" dirty="0" err="1"/>
              <a:t>너무맛있어서</a:t>
            </a:r>
            <a:r>
              <a:rPr lang="ko-KR" altLang="en-US" dirty="0"/>
              <a:t> </a:t>
            </a:r>
            <a:r>
              <a:rPr lang="ko-KR" altLang="en-US" dirty="0" err="1"/>
              <a:t>자랑합니당</a:t>
            </a:r>
            <a:r>
              <a:rPr lang="en-US" altLang="ko-KR" dirty="0"/>
              <a:t>.. </a:t>
            </a:r>
            <a:r>
              <a:rPr lang="ko-KR" altLang="en-US" dirty="0" err="1"/>
              <a:t>ㅋㅋ</a:t>
            </a:r>
            <a:r>
              <a:rPr lang="ko-KR" altLang="en-US" dirty="0"/>
              <a:t> </a:t>
            </a:r>
            <a:r>
              <a:rPr lang="ko-KR" altLang="en-US" dirty="0" err="1"/>
              <a:t>ㅜ</a:t>
            </a:r>
            <a:r>
              <a:rPr lang="ko-KR" altLang="en-US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2C5501-BA5D-9291-CBD3-465525C7206B}"/>
              </a:ext>
            </a:extLst>
          </p:cNvPr>
          <p:cNvSpPr txBox="1"/>
          <p:nvPr/>
        </p:nvSpPr>
        <p:spPr>
          <a:xfrm>
            <a:off x="369497" y="4301732"/>
            <a:ext cx="11251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후보 </a:t>
            </a:r>
            <a:r>
              <a:rPr lang="en-US" altLang="ko-KR" dirty="0"/>
              <a:t>B: </a:t>
            </a:r>
            <a:r>
              <a:rPr lang="ko-KR" altLang="en-US" dirty="0" err="1"/>
              <a:t>양재역쪽</a:t>
            </a:r>
            <a:r>
              <a:rPr lang="ko-KR" altLang="en-US" dirty="0"/>
              <a:t> 분위기 좋은 맛집 </a:t>
            </a:r>
            <a:r>
              <a:rPr lang="ko-KR" altLang="en-US" dirty="0" err="1"/>
              <a:t>추천받아요</a:t>
            </a:r>
            <a:r>
              <a:rPr lang="en-US" altLang="ko-KR" dirty="0"/>
              <a:t>.. </a:t>
            </a:r>
            <a:r>
              <a:rPr lang="ko-KR" altLang="en-US" dirty="0" err="1"/>
              <a:t>데이트할껀데</a:t>
            </a:r>
            <a:r>
              <a:rPr lang="ko-KR" altLang="en-US" dirty="0"/>
              <a:t> </a:t>
            </a:r>
            <a:r>
              <a:rPr lang="ko-KR" altLang="en-US" dirty="0" err="1"/>
              <a:t>양재역쪽은</a:t>
            </a:r>
            <a:r>
              <a:rPr lang="ko-KR" altLang="en-US" dirty="0"/>
              <a:t> 너무 고깃집이라 </a:t>
            </a:r>
            <a:r>
              <a:rPr lang="ko-KR" altLang="en-US" dirty="0" err="1"/>
              <a:t>못찾겠어유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83E0EB-65E6-3572-9FAE-7B9CFCEA863F}"/>
              </a:ext>
            </a:extLst>
          </p:cNvPr>
          <p:cNvSpPr txBox="1"/>
          <p:nvPr/>
        </p:nvSpPr>
        <p:spPr>
          <a:xfrm>
            <a:off x="385312" y="507186"/>
            <a:ext cx="869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문장 기반 매칭 시스템 평가 설문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예시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967602-42D5-4C99-1498-D1A339C55BE8}"/>
              </a:ext>
            </a:extLst>
          </p:cNvPr>
          <p:cNvSpPr txBox="1"/>
          <p:nvPr/>
        </p:nvSpPr>
        <p:spPr>
          <a:xfrm>
            <a:off x="385312" y="5155096"/>
            <a:ext cx="11105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후보 </a:t>
            </a:r>
            <a:r>
              <a:rPr lang="en-US" altLang="ko-KR" dirty="0">
                <a:sym typeface="Wingdings" panose="05000000000000000000" pitchFamily="2" charset="2"/>
              </a:rPr>
              <a:t>B</a:t>
            </a:r>
            <a:r>
              <a:rPr lang="ko-KR" altLang="en-US" dirty="0">
                <a:sym typeface="Wingdings" panose="05000000000000000000" pitchFamily="2" charset="2"/>
              </a:rPr>
              <a:t>가 더 적절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양재동이라는 지역 </a:t>
            </a:r>
            <a:r>
              <a:rPr lang="ko-KR" altLang="en-US" dirty="0" err="1">
                <a:sym typeface="Wingdings" panose="05000000000000000000" pitchFamily="2" charset="2"/>
              </a:rPr>
              <a:t>유사성뿐만</a:t>
            </a:r>
            <a:r>
              <a:rPr lang="ko-KR" altLang="en-US" dirty="0">
                <a:sym typeface="Wingdings" panose="05000000000000000000" pitchFamily="2" charset="2"/>
              </a:rPr>
              <a:t> 아니라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원본 포스트는 음식점을 추천해주고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후보 </a:t>
            </a:r>
            <a:r>
              <a:rPr lang="en-US" altLang="ko-KR" dirty="0">
                <a:sym typeface="Wingdings" panose="05000000000000000000" pitchFamily="2" charset="2"/>
              </a:rPr>
              <a:t>B</a:t>
            </a:r>
            <a:r>
              <a:rPr lang="ko-KR" altLang="en-US" dirty="0">
                <a:sym typeface="Wingdings" panose="05000000000000000000" pitchFamily="2" charset="2"/>
              </a:rPr>
              <a:t>는 음식점 추천을 원하는 역할로서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상호보완성이 존재</a:t>
            </a:r>
            <a:r>
              <a:rPr lang="ko-KR" altLang="en-US" dirty="0">
                <a:sym typeface="Wingdings" panose="05000000000000000000" pitchFamily="2" charset="2"/>
              </a:rPr>
              <a:t>함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후보 </a:t>
            </a:r>
            <a:r>
              <a:rPr lang="en-US" altLang="ko-KR" dirty="0">
                <a:sym typeface="Wingdings" panose="05000000000000000000" pitchFamily="2" charset="2"/>
              </a:rPr>
              <a:t>A</a:t>
            </a:r>
            <a:r>
              <a:rPr lang="ko-KR" altLang="en-US" dirty="0">
                <a:sym typeface="Wingdings" panose="05000000000000000000" pitchFamily="2" charset="2"/>
              </a:rPr>
              <a:t>는 원본 포스트와 동일하게 햄버거 음식점을 추천해 주는 게시글이라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유의미하게 연결될 수 없음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465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1B94B-95AB-A985-0F77-3FF9F4638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5342B1-D270-5B17-C82B-87E951C4F659}"/>
              </a:ext>
            </a:extLst>
          </p:cNvPr>
          <p:cNvSpPr txBox="1"/>
          <p:nvPr/>
        </p:nvSpPr>
        <p:spPr>
          <a:xfrm>
            <a:off x="414067" y="1407362"/>
            <a:ext cx="110705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원본 포스트</a:t>
            </a:r>
            <a:r>
              <a:rPr lang="en-US" altLang="ko-KR" dirty="0"/>
              <a:t>: </a:t>
            </a:r>
            <a:r>
              <a:rPr lang="ko-KR" altLang="en-US" dirty="0"/>
              <a:t>서울근교 </a:t>
            </a:r>
            <a:r>
              <a:rPr lang="ko-KR" altLang="en-US" dirty="0" err="1"/>
              <a:t>절집</a:t>
            </a:r>
            <a:r>
              <a:rPr lang="ko-KR" altLang="en-US" dirty="0"/>
              <a:t> 탐방  사진 좋아하고 평일에 자유롭게 움직일 수 있어 모임 만들어 봅니다</a:t>
            </a:r>
            <a:r>
              <a:rPr lang="en-US" altLang="ko-KR" dirty="0"/>
              <a:t>.  </a:t>
            </a:r>
            <a:r>
              <a:rPr lang="ko-KR" altLang="en-US" dirty="0"/>
              <a:t>말 그대로 </a:t>
            </a:r>
            <a:r>
              <a:rPr lang="ko-KR" altLang="en-US" dirty="0" err="1"/>
              <a:t>아침일찍</a:t>
            </a:r>
            <a:r>
              <a:rPr lang="ko-KR" altLang="en-US" dirty="0"/>
              <a:t> 출발해서 낮에 집에 들어가는 동선으로 </a:t>
            </a:r>
            <a:r>
              <a:rPr lang="ko-KR" altLang="en-US" dirty="0" err="1"/>
              <a:t>움직여볼까해요</a:t>
            </a:r>
            <a:r>
              <a:rPr lang="en-US" altLang="ko-KR" dirty="0"/>
              <a:t>. </a:t>
            </a:r>
            <a:r>
              <a:rPr lang="ko-KR" altLang="en-US" dirty="0"/>
              <a:t>나이 성별 관계 없이 같이 </a:t>
            </a:r>
            <a:r>
              <a:rPr lang="ko-KR" altLang="en-US" dirty="0" err="1"/>
              <a:t>하실분</a:t>
            </a:r>
            <a:r>
              <a:rPr lang="ko-KR" altLang="en-US" dirty="0"/>
              <a:t> 구해요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C73CAD-181C-DCD5-4003-E7CCEB6316CC}"/>
              </a:ext>
            </a:extLst>
          </p:cNvPr>
          <p:cNvSpPr txBox="1"/>
          <p:nvPr/>
        </p:nvSpPr>
        <p:spPr>
          <a:xfrm>
            <a:off x="506083" y="3569399"/>
            <a:ext cx="11179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후보 </a:t>
            </a:r>
            <a:r>
              <a:rPr lang="en-US" altLang="ko-KR" dirty="0"/>
              <a:t>B: </a:t>
            </a:r>
            <a:r>
              <a:rPr lang="ko-KR" altLang="en-US" dirty="0"/>
              <a:t>탐방 같이 하고 친구 되실 분</a:t>
            </a:r>
            <a:r>
              <a:rPr lang="en-US" altLang="ko-KR" dirty="0"/>
              <a:t>~~  </a:t>
            </a:r>
            <a:r>
              <a:rPr lang="ko-KR" altLang="en-US" dirty="0"/>
              <a:t>평일에 전시회</a:t>
            </a:r>
            <a:r>
              <a:rPr lang="en-US" altLang="ko-KR" dirty="0"/>
              <a:t>, </a:t>
            </a:r>
            <a:r>
              <a:rPr lang="ko-KR" altLang="en-US" dirty="0"/>
              <a:t>박물관</a:t>
            </a:r>
            <a:r>
              <a:rPr lang="en-US" altLang="ko-KR" dirty="0"/>
              <a:t>, </a:t>
            </a:r>
            <a:r>
              <a:rPr lang="ko-KR" altLang="en-US" dirty="0"/>
              <a:t>도서관</a:t>
            </a:r>
            <a:r>
              <a:rPr lang="en-US" altLang="ko-KR" dirty="0"/>
              <a:t>, </a:t>
            </a:r>
            <a:r>
              <a:rPr lang="ko-KR" altLang="en-US" dirty="0" err="1"/>
              <a:t>원데이클래스</a:t>
            </a:r>
            <a:r>
              <a:rPr lang="ko-KR" altLang="en-US" dirty="0"/>
              <a:t> 같은 곳과 맛집 같이 다닐 동네친구 되실 분</a:t>
            </a:r>
            <a:r>
              <a:rPr lang="en-US" altLang="ko-KR" dirty="0"/>
              <a:t>? </a:t>
            </a:r>
            <a:r>
              <a:rPr lang="ko-KR" altLang="en-US" dirty="0"/>
              <a:t>도서관 가는 경우는 아마 가서 공부하게 </a:t>
            </a:r>
            <a:r>
              <a:rPr lang="ko-KR" altLang="en-US" dirty="0" err="1"/>
              <a:t>될거</a:t>
            </a:r>
            <a:r>
              <a:rPr lang="ko-KR" altLang="en-US" dirty="0"/>
              <a:t> 같네요</a:t>
            </a:r>
            <a:r>
              <a:rPr lang="en-US" altLang="ko-KR" dirty="0"/>
              <a:t>. </a:t>
            </a:r>
            <a:r>
              <a:rPr lang="ko-KR" altLang="en-US" dirty="0"/>
              <a:t>같이 </a:t>
            </a:r>
            <a:r>
              <a:rPr lang="ko-KR" altLang="en-US" dirty="0" err="1"/>
              <a:t>놀러다니면서</a:t>
            </a:r>
            <a:r>
              <a:rPr lang="ko-KR" altLang="en-US" dirty="0"/>
              <a:t> 좋은 경험도 하고 </a:t>
            </a:r>
            <a:r>
              <a:rPr lang="ko-KR" altLang="en-US" dirty="0" err="1"/>
              <a:t>친해져요</a:t>
            </a:r>
            <a:r>
              <a:rPr lang="en-US" altLang="ko-KR" dirty="0"/>
              <a:t>~~  </a:t>
            </a:r>
            <a:r>
              <a:rPr lang="ko-KR" altLang="en-US" dirty="0"/>
              <a:t>성별 안 가리고 구했더니 목적과 맞지 않는 분들이 오시는 경우가 </a:t>
            </a:r>
            <a:r>
              <a:rPr lang="ko-KR" altLang="en-US" dirty="0" err="1"/>
              <a:t>있더라구요ㅠㅠ</a:t>
            </a:r>
            <a:r>
              <a:rPr lang="ko-KR" altLang="en-US" dirty="0"/>
              <a:t> 그래서 저와 동성인 여성분들로 제한합니다</a:t>
            </a:r>
            <a:r>
              <a:rPr lang="en-US" altLang="ko-KR" dirty="0"/>
              <a:t>. </a:t>
            </a:r>
            <a:r>
              <a:rPr lang="ko-KR" altLang="en-US" dirty="0"/>
              <a:t>나이는 상관없어요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6D143-D107-14CA-72D1-D0A3B33E5B8F}"/>
              </a:ext>
            </a:extLst>
          </p:cNvPr>
          <p:cNvSpPr txBox="1"/>
          <p:nvPr/>
        </p:nvSpPr>
        <p:spPr>
          <a:xfrm>
            <a:off x="468701" y="2505670"/>
            <a:ext cx="1097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후보 </a:t>
            </a:r>
            <a:r>
              <a:rPr lang="en-US" altLang="ko-KR" dirty="0"/>
              <a:t>A: </a:t>
            </a:r>
            <a:r>
              <a:rPr lang="ko-KR" altLang="en-US" dirty="0"/>
              <a:t>날씨 </a:t>
            </a:r>
            <a:r>
              <a:rPr lang="ko-KR" altLang="en-US" dirty="0" err="1"/>
              <a:t>따뜻해져서</a:t>
            </a:r>
            <a:r>
              <a:rPr lang="ko-KR" altLang="en-US" dirty="0"/>
              <a:t> 같이 사진 찍으러 다니실 분 계실까요  카메라 있고 사진 좋아하는데 혼자 다니기 좀 그래서 일시적으로 소모임처럼 같이 다닐 분 찾습니다  제가 나이 많은 분들을 어려워해서 </a:t>
            </a:r>
            <a:r>
              <a:rPr lang="en-US" altLang="ko-KR" dirty="0"/>
              <a:t>20</a:t>
            </a:r>
            <a:r>
              <a:rPr lang="ko-KR" altLang="en-US" dirty="0"/>
              <a:t>대 중반이면 좋을 것 같습니다</a:t>
            </a:r>
            <a:r>
              <a:rPr lang="en-US" altLang="ko-KR" dirty="0"/>
              <a:t>!!  </a:t>
            </a:r>
            <a:r>
              <a:rPr lang="ko-KR" altLang="en-US" dirty="0"/>
              <a:t>인생사진 만들어봐요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5EC51A-0DB4-FB8E-865E-E4F18E80419C}"/>
              </a:ext>
            </a:extLst>
          </p:cNvPr>
          <p:cNvSpPr txBox="1"/>
          <p:nvPr/>
        </p:nvSpPr>
        <p:spPr>
          <a:xfrm>
            <a:off x="385312" y="5155096"/>
            <a:ext cx="11105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후보 </a:t>
            </a:r>
            <a:r>
              <a:rPr lang="en-US" altLang="ko-KR" dirty="0">
                <a:sym typeface="Wingdings" panose="05000000000000000000" pitchFamily="2" charset="2"/>
              </a:rPr>
              <a:t>A</a:t>
            </a:r>
            <a:r>
              <a:rPr lang="ko-KR" altLang="en-US" dirty="0">
                <a:sym typeface="Wingdings" panose="05000000000000000000" pitchFamily="2" charset="2"/>
              </a:rPr>
              <a:t>가 더 적절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원본 포스트의 목적은 사진을 좋아하는 모임을 구성하는 것이고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후보 </a:t>
            </a:r>
            <a:r>
              <a:rPr lang="en-US" altLang="ko-KR" dirty="0">
                <a:sym typeface="Wingdings" panose="05000000000000000000" pitchFamily="2" charset="2"/>
              </a:rPr>
              <a:t>A</a:t>
            </a:r>
            <a:r>
              <a:rPr lang="ko-KR" altLang="en-US" dirty="0">
                <a:sym typeface="Wingdings" panose="05000000000000000000" pitchFamily="2" charset="2"/>
              </a:rPr>
              <a:t>도 사진 찍으러 다닐 사람을 구하는 것으로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목적이 유사</a:t>
            </a:r>
            <a:r>
              <a:rPr lang="ko-KR" altLang="en-US" dirty="0">
                <a:sym typeface="Wingdings" panose="05000000000000000000" pitchFamily="2" charset="2"/>
              </a:rPr>
              <a:t>하여 동행가능성이 높음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후보 </a:t>
            </a:r>
            <a:r>
              <a:rPr lang="en-US" altLang="ko-KR" dirty="0">
                <a:sym typeface="Wingdings" panose="05000000000000000000" pitchFamily="2" charset="2"/>
              </a:rPr>
              <a:t>B</a:t>
            </a:r>
            <a:r>
              <a:rPr lang="ko-KR" altLang="en-US" dirty="0">
                <a:sym typeface="Wingdings" panose="05000000000000000000" pitchFamily="2" charset="2"/>
              </a:rPr>
              <a:t>는 탐방이라는 공통 키워드가 있으나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목적은 친구를 만드는 것이므로 원본 포스트와 목적 상이함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D63E55-8B86-7361-D01B-CFFCAD414B34}"/>
              </a:ext>
            </a:extLst>
          </p:cNvPr>
          <p:cNvSpPr txBox="1"/>
          <p:nvPr/>
        </p:nvSpPr>
        <p:spPr>
          <a:xfrm>
            <a:off x="385312" y="507186"/>
            <a:ext cx="869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문장 기반 매칭 시스템 평가 설문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예시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9957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B4CDB-FFE1-0C91-5495-F95E9C66F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0D54FE-87EF-678C-3A36-7A81895159E5}"/>
              </a:ext>
            </a:extLst>
          </p:cNvPr>
          <p:cNvSpPr txBox="1"/>
          <p:nvPr/>
        </p:nvSpPr>
        <p:spPr>
          <a:xfrm>
            <a:off x="385312" y="1368579"/>
            <a:ext cx="108922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원본 포스트</a:t>
            </a:r>
            <a:r>
              <a:rPr lang="en-US" altLang="ko-KR" dirty="0"/>
              <a:t>: </a:t>
            </a:r>
            <a:r>
              <a:rPr lang="ko-KR" altLang="en-US" dirty="0" err="1"/>
              <a:t>스노우보드</a:t>
            </a:r>
            <a:r>
              <a:rPr lang="ko-KR" altLang="en-US" dirty="0"/>
              <a:t> </a:t>
            </a:r>
            <a:r>
              <a:rPr lang="ko-KR" altLang="en-US" dirty="0" err="1"/>
              <a:t>왁싱</a:t>
            </a:r>
            <a:r>
              <a:rPr lang="ko-KR" altLang="en-US" dirty="0"/>
              <a:t> 할 수 있는 분 있을까요?   보드시즌 끝나서 </a:t>
            </a:r>
            <a:r>
              <a:rPr lang="ko-KR" altLang="en-US" dirty="0" err="1"/>
              <a:t>보관왁싱</a:t>
            </a:r>
            <a:r>
              <a:rPr lang="ko-KR" altLang="en-US" dirty="0"/>
              <a:t> </a:t>
            </a:r>
            <a:r>
              <a:rPr lang="ko-KR" altLang="en-US" dirty="0" err="1"/>
              <a:t>하려는데</a:t>
            </a:r>
            <a:r>
              <a:rPr lang="ko-KR" altLang="en-US" dirty="0"/>
              <a:t> 보드가 그렇게 </a:t>
            </a:r>
            <a:r>
              <a:rPr lang="ko-KR" altLang="en-US" dirty="0" err="1"/>
              <a:t>좋은게</a:t>
            </a:r>
            <a:r>
              <a:rPr lang="ko-KR" altLang="en-US" dirty="0"/>
              <a:t> 아니라 업체 맡기기가 좀 그래서요 </a:t>
            </a:r>
            <a:r>
              <a:rPr lang="ko-KR" altLang="en-US" dirty="0" err="1"/>
              <a:t>ㅎㅎㅎㅎ</a:t>
            </a:r>
            <a:r>
              <a:rPr lang="ko-KR" altLang="en-US" dirty="0"/>
              <a:t>  보관 </a:t>
            </a:r>
            <a:r>
              <a:rPr lang="ko-KR" altLang="en-US" dirty="0" err="1"/>
              <a:t>왁싱</a:t>
            </a:r>
            <a:r>
              <a:rPr lang="ko-KR" altLang="en-US" dirty="0"/>
              <a:t> 하실 수 </a:t>
            </a:r>
            <a:r>
              <a:rPr lang="ko-KR" altLang="en-US" dirty="0" err="1"/>
              <a:t>있는분</a:t>
            </a:r>
            <a:r>
              <a:rPr lang="ko-KR" altLang="en-US" dirty="0"/>
              <a:t> 계시면 댓글 </a:t>
            </a:r>
            <a:r>
              <a:rPr lang="ko-KR" altLang="en-US" dirty="0" err="1"/>
              <a:t>부탁드려요</a:t>
            </a:r>
            <a:r>
              <a:rPr lang="ko-KR" altLang="en-US" dirty="0"/>
              <a:t>! 재능기부 </a:t>
            </a:r>
            <a:r>
              <a:rPr lang="ko-KR" altLang="en-US" dirty="0" err="1"/>
              <a:t>부탁드리는게</a:t>
            </a:r>
            <a:r>
              <a:rPr lang="ko-KR" altLang="en-US" dirty="0"/>
              <a:t> </a:t>
            </a:r>
            <a:r>
              <a:rPr lang="ko-KR" altLang="en-US" dirty="0" err="1"/>
              <a:t>아니구요</a:t>
            </a:r>
            <a:r>
              <a:rPr lang="ko-KR" altLang="en-US" dirty="0"/>
              <a:t> 사례 하겠습니다  제가 </a:t>
            </a:r>
            <a:r>
              <a:rPr lang="ko-KR" altLang="en-US" dirty="0" err="1"/>
              <a:t>간데메근처</a:t>
            </a:r>
            <a:r>
              <a:rPr lang="ko-KR" altLang="en-US" dirty="0"/>
              <a:t> 살아서 근처 동네 사시는 분이면 좋을 것 같아요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7936D-1ED3-4245-31F6-E3A48AF1B117}"/>
              </a:ext>
            </a:extLst>
          </p:cNvPr>
          <p:cNvSpPr txBox="1"/>
          <p:nvPr/>
        </p:nvSpPr>
        <p:spPr>
          <a:xfrm>
            <a:off x="442821" y="2829548"/>
            <a:ext cx="108347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후보 </a:t>
            </a:r>
            <a:r>
              <a:rPr lang="en-US" altLang="ko-KR" dirty="0"/>
              <a:t>A: </a:t>
            </a:r>
            <a:r>
              <a:rPr lang="ko-KR" altLang="en-US" dirty="0"/>
              <a:t>남자 셀프 </a:t>
            </a:r>
            <a:r>
              <a:rPr lang="ko-KR" altLang="en-US" dirty="0" err="1"/>
              <a:t>왁싱</a:t>
            </a:r>
            <a:r>
              <a:rPr lang="ko-KR" altLang="en-US" dirty="0"/>
              <a:t>  집에서 셀프 </a:t>
            </a:r>
            <a:r>
              <a:rPr lang="ko-KR" altLang="en-US" dirty="0" err="1"/>
              <a:t>슈가링왁스</a:t>
            </a:r>
            <a:r>
              <a:rPr lang="ko-KR" altLang="en-US" dirty="0"/>
              <a:t> </a:t>
            </a:r>
            <a:r>
              <a:rPr lang="ko-KR" altLang="en-US" dirty="0" err="1"/>
              <a:t>하구싶은데</a:t>
            </a:r>
            <a:r>
              <a:rPr lang="ko-KR" altLang="en-US" dirty="0"/>
              <a:t> 꼭 전자레인지 </a:t>
            </a:r>
            <a:r>
              <a:rPr lang="ko-KR" altLang="en-US" dirty="0" err="1"/>
              <a:t>잇어야</a:t>
            </a:r>
            <a:r>
              <a:rPr lang="ko-KR" altLang="en-US" dirty="0"/>
              <a:t> </a:t>
            </a:r>
            <a:r>
              <a:rPr lang="ko-KR" altLang="en-US" dirty="0" err="1"/>
              <a:t>왁싱가능</a:t>
            </a:r>
            <a:r>
              <a:rPr lang="ko-KR" altLang="en-US" dirty="0"/>
              <a:t> </a:t>
            </a:r>
            <a:r>
              <a:rPr lang="ko-KR" altLang="en-US" dirty="0" err="1"/>
              <a:t>할가요?ㅠㅠ</a:t>
            </a:r>
            <a:r>
              <a:rPr lang="ko-KR" altLang="en-US" dirty="0"/>
              <a:t> 전자레인지 없어서 없이 가능한 </a:t>
            </a:r>
            <a:r>
              <a:rPr lang="ko-KR" altLang="en-US" dirty="0" err="1"/>
              <a:t>왁싱은</a:t>
            </a:r>
            <a:r>
              <a:rPr lang="ko-KR" altLang="en-US" dirty="0"/>
              <a:t> </a:t>
            </a:r>
            <a:r>
              <a:rPr lang="ko-KR" altLang="en-US" dirty="0" err="1"/>
              <a:t>없을가요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01A08-E0B5-F7C6-18D8-9695AF716904}"/>
              </a:ext>
            </a:extLst>
          </p:cNvPr>
          <p:cNvSpPr txBox="1"/>
          <p:nvPr/>
        </p:nvSpPr>
        <p:spPr>
          <a:xfrm>
            <a:off x="442821" y="3736519"/>
            <a:ext cx="11151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후보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B: </a:t>
            </a:r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스노우보드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강습 같이 </a:t>
            </a:r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받으실분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! 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 보드 완전 초보인데요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! 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강습을 </a:t>
            </a:r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받으려니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좀 </a:t>
            </a:r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비싸서ㅜ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스노우보드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강습 같이 </a:t>
            </a:r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받으실분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??!</a:t>
            </a:r>
            <a:r>
              <a:rPr lang="ko-KR" altLang="en-US" dirty="0">
                <a:effectLst/>
              </a:rPr>
              <a:t>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D8347B-28CA-2BD5-D209-52ADAD5F17C3}"/>
              </a:ext>
            </a:extLst>
          </p:cNvPr>
          <p:cNvSpPr txBox="1"/>
          <p:nvPr/>
        </p:nvSpPr>
        <p:spPr>
          <a:xfrm>
            <a:off x="385312" y="5155096"/>
            <a:ext cx="109497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후보 </a:t>
            </a:r>
            <a:r>
              <a:rPr lang="en-US" altLang="ko-KR" dirty="0">
                <a:sym typeface="Wingdings" panose="05000000000000000000" pitchFamily="2" charset="2"/>
              </a:rPr>
              <a:t>B</a:t>
            </a:r>
            <a:r>
              <a:rPr lang="ko-KR" altLang="en-US" dirty="0">
                <a:sym typeface="Wingdings" panose="05000000000000000000" pitchFamily="2" charset="2"/>
              </a:rPr>
              <a:t>가 더 적절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원본 포스트는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스노우보드와</a:t>
            </a:r>
            <a:r>
              <a:rPr lang="ko-KR" altLang="en-US" dirty="0">
                <a:sym typeface="Wingdings" panose="05000000000000000000" pitchFamily="2" charset="2"/>
              </a:rPr>
              <a:t> 관련된 이야기를 하고 있으나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후보 </a:t>
            </a:r>
            <a:r>
              <a:rPr lang="en-US" altLang="ko-KR" dirty="0">
                <a:sym typeface="Wingdings" panose="05000000000000000000" pitchFamily="2" charset="2"/>
              </a:rPr>
              <a:t>A</a:t>
            </a:r>
            <a:r>
              <a:rPr lang="ko-KR" altLang="en-US" dirty="0">
                <a:sym typeface="Wingdings" panose="05000000000000000000" pitchFamily="2" charset="2"/>
              </a:rPr>
              <a:t>는 </a:t>
            </a:r>
            <a:r>
              <a:rPr lang="ko-KR" altLang="en-US" dirty="0" err="1">
                <a:sym typeface="Wingdings" panose="05000000000000000000" pitchFamily="2" charset="2"/>
              </a:rPr>
              <a:t>왁싱이라는</a:t>
            </a:r>
            <a:r>
              <a:rPr lang="ko-KR" altLang="en-US" dirty="0">
                <a:sym typeface="Wingdings" panose="05000000000000000000" pitchFamily="2" charset="2"/>
              </a:rPr>
              <a:t> 키워드만 공통될 뿐 전혀 다른 분야에 해당함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후보 </a:t>
            </a:r>
            <a:r>
              <a:rPr lang="en-US" altLang="ko-KR" dirty="0">
                <a:sym typeface="Wingdings" panose="05000000000000000000" pitchFamily="2" charset="2"/>
              </a:rPr>
              <a:t>B </a:t>
            </a:r>
            <a:r>
              <a:rPr lang="ko-KR" altLang="en-US" dirty="0">
                <a:sym typeface="Wingdings" panose="05000000000000000000" pitchFamily="2" charset="2"/>
              </a:rPr>
              <a:t>역시 완전히 매칭에 적절한 메시지는 아니나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공통된 분야</a:t>
            </a:r>
            <a:r>
              <a:rPr lang="ko-KR" altLang="en-US" dirty="0">
                <a:sym typeface="Wingdings" panose="05000000000000000000" pitchFamily="2" charset="2"/>
              </a:rPr>
              <a:t>의 게시글이므로 좀 더 적절함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BFC9FF-C5DC-FE3C-4CDA-15F86D0EDF9B}"/>
              </a:ext>
            </a:extLst>
          </p:cNvPr>
          <p:cNvSpPr txBox="1"/>
          <p:nvPr/>
        </p:nvSpPr>
        <p:spPr>
          <a:xfrm>
            <a:off x="385312" y="507186"/>
            <a:ext cx="869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문장 기반 매칭 시스템 평가 설문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예시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754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430FA-6684-2DB2-DCC9-3CB6C8E2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47AA16-60E2-B0C9-2B72-92EB3D6C8CD7}"/>
              </a:ext>
            </a:extLst>
          </p:cNvPr>
          <p:cNvSpPr txBox="1"/>
          <p:nvPr/>
        </p:nvSpPr>
        <p:spPr>
          <a:xfrm>
            <a:off x="520458" y="2888583"/>
            <a:ext cx="10892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Csv </a:t>
            </a:r>
            <a:r>
              <a:rPr lang="ko-KR" altLang="en-US" b="1" dirty="0"/>
              <a:t>파일 관련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E18F72-E1C7-8F4F-D049-CCAA208061B1}"/>
              </a:ext>
            </a:extLst>
          </p:cNvPr>
          <p:cNvSpPr txBox="1"/>
          <p:nvPr/>
        </p:nvSpPr>
        <p:spPr>
          <a:xfrm>
            <a:off x="437069" y="1298119"/>
            <a:ext cx="111510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Source Post: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 포스트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/>
              <a:t>Baseline: </a:t>
            </a:r>
            <a:r>
              <a:rPr lang="ko-KR" altLang="en-US" dirty="0"/>
              <a:t>벡터 검색 </a:t>
            </a:r>
            <a:r>
              <a:rPr lang="en-US" altLang="ko-KR" dirty="0"/>
              <a:t>+ </a:t>
            </a:r>
            <a:r>
              <a:rPr lang="ko-KR" altLang="en-US" dirty="0"/>
              <a:t>단일 </a:t>
            </a:r>
            <a:r>
              <a:rPr lang="en-US" altLang="ko-KR" dirty="0"/>
              <a:t>LLM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Proposed: </a:t>
            </a:r>
            <a:r>
              <a:rPr lang="ko-KR" altLang="en-US" dirty="0"/>
              <a:t>논문에서 제안된 시스템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CD10D2-2A6B-A684-734C-8A29B4514A08}"/>
              </a:ext>
            </a:extLst>
          </p:cNvPr>
          <p:cNvSpPr txBox="1"/>
          <p:nvPr/>
        </p:nvSpPr>
        <p:spPr>
          <a:xfrm>
            <a:off x="520458" y="3429000"/>
            <a:ext cx="113322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Items: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설문에 사용할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70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비교 항목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 err="1"/>
              <a:t>survey_items_ab_blinded</a:t>
            </a:r>
            <a:r>
              <a:rPr lang="en-US" altLang="ko-KR" dirty="0"/>
              <a:t>: </a:t>
            </a:r>
            <a:r>
              <a:rPr lang="ko-KR" altLang="en-US" dirty="0"/>
              <a:t>평가자에게 보여지는</a:t>
            </a:r>
            <a:r>
              <a:rPr lang="en-US" altLang="ko-KR" dirty="0"/>
              <a:t>, baseline</a:t>
            </a:r>
            <a:r>
              <a:rPr lang="ko-KR" altLang="en-US" dirty="0"/>
              <a:t>과 </a:t>
            </a:r>
            <a:r>
              <a:rPr lang="en-US" altLang="ko-KR" dirty="0"/>
              <a:t>proposed</a:t>
            </a:r>
            <a:r>
              <a:rPr lang="ko-KR" altLang="en-US" dirty="0"/>
              <a:t>가 후보 </a:t>
            </a:r>
            <a:r>
              <a:rPr lang="en-US" altLang="ko-KR" dirty="0"/>
              <a:t>A, B</a:t>
            </a:r>
            <a:r>
              <a:rPr lang="ko-KR" altLang="en-US" dirty="0"/>
              <a:t>로서 </a:t>
            </a:r>
            <a:r>
              <a:rPr lang="ko-KR" altLang="en-US" dirty="0" err="1"/>
              <a:t>랜덤할당된</a:t>
            </a:r>
            <a:r>
              <a:rPr lang="ko-KR" altLang="en-US" dirty="0"/>
              <a:t> 설문지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err="1"/>
              <a:t>ratings_template</a:t>
            </a:r>
            <a:r>
              <a:rPr lang="en-US" altLang="ko-KR" dirty="0"/>
              <a:t>: </a:t>
            </a:r>
            <a:r>
              <a:rPr lang="ko-KR" altLang="en-US" dirty="0"/>
              <a:t>평가자가 후보 </a:t>
            </a:r>
            <a:r>
              <a:rPr lang="en-US" altLang="ko-KR" dirty="0"/>
              <a:t>A B </a:t>
            </a:r>
            <a:r>
              <a:rPr lang="ko-KR" altLang="en-US" dirty="0"/>
              <a:t>중 더 적절한 것을 선택하여</a:t>
            </a:r>
            <a:r>
              <a:rPr lang="en-US" altLang="ko-KR" dirty="0"/>
              <a:t>, ‘choice’ </a:t>
            </a:r>
            <a:r>
              <a:rPr lang="ko-KR" altLang="en-US" dirty="0"/>
              <a:t>열에 작성 </a:t>
            </a:r>
            <a:r>
              <a:rPr lang="en-US" altLang="ko-KR" dirty="0"/>
              <a:t>(A </a:t>
            </a:r>
            <a:r>
              <a:rPr lang="ko-KR" altLang="en-US" dirty="0"/>
              <a:t>혹은 </a:t>
            </a:r>
            <a:r>
              <a:rPr lang="en-US" altLang="ko-KR" dirty="0"/>
              <a:t>B </a:t>
            </a:r>
            <a:r>
              <a:rPr lang="ko-KR" altLang="en-US" dirty="0"/>
              <a:t>로만 작성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dirty="0" err="1"/>
              <a:t>Survey_keymap_researcher_only</a:t>
            </a:r>
            <a:r>
              <a:rPr lang="en-US" altLang="ko-KR" dirty="0"/>
              <a:t>: </a:t>
            </a:r>
            <a:r>
              <a:rPr lang="ko-KR" altLang="en-US" dirty="0" err="1"/>
              <a:t>랜덤할당된</a:t>
            </a:r>
            <a:r>
              <a:rPr lang="ko-KR" altLang="en-US" dirty="0"/>
              <a:t> 설문지에서 각 후보가 </a:t>
            </a:r>
            <a:r>
              <a:rPr lang="en-US" altLang="ko-KR" dirty="0"/>
              <a:t>baseline</a:t>
            </a:r>
            <a:r>
              <a:rPr lang="ko-KR" altLang="en-US" dirty="0"/>
              <a:t>인지 </a:t>
            </a:r>
            <a:r>
              <a:rPr lang="en-US" altLang="ko-KR" dirty="0"/>
              <a:t>proposed</a:t>
            </a:r>
            <a:r>
              <a:rPr lang="ko-KR" altLang="en-US" dirty="0"/>
              <a:t>인지 매핑</a:t>
            </a:r>
            <a:br>
              <a:rPr lang="en-US" altLang="ko-KR" dirty="0"/>
            </a:br>
            <a:r>
              <a:rPr lang="en-US" altLang="ko-KR" dirty="0"/>
              <a:t>(R</a:t>
            </a:r>
            <a:r>
              <a:rPr lang="ko-KR" altLang="en-US" dirty="0"/>
              <a:t>로 계산 예정</a:t>
            </a:r>
            <a:r>
              <a:rPr lang="en-US" altLang="ko-KR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377EA3-296A-62E6-DCA5-30C6C5A44D72}"/>
              </a:ext>
            </a:extLst>
          </p:cNvPr>
          <p:cNvSpPr txBox="1"/>
          <p:nvPr/>
        </p:nvSpPr>
        <p:spPr>
          <a:xfrm>
            <a:off x="638354" y="5002015"/>
            <a:ext cx="10949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일단은 구글 폼으로 설문지 작성 예정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931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2C41BF-AF53-E427-508B-C90E633A801D}"/>
              </a:ext>
            </a:extLst>
          </p:cNvPr>
          <p:cNvSpPr txBox="1"/>
          <p:nvPr/>
        </p:nvSpPr>
        <p:spPr>
          <a:xfrm>
            <a:off x="477325" y="2061581"/>
            <a:ext cx="112660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1) </a:t>
            </a:r>
            <a:r>
              <a:rPr lang="ko-KR" altLang="en-US" dirty="0"/>
              <a:t>평가자 간 일치도(</a:t>
            </a:r>
            <a:r>
              <a:rPr lang="ko-KR" altLang="en-US" dirty="0" err="1"/>
              <a:t>Inter-rater</a:t>
            </a:r>
            <a:r>
              <a:rPr lang="ko-KR" altLang="en-US" dirty="0"/>
              <a:t> </a:t>
            </a:r>
            <a:r>
              <a:rPr lang="ko-KR" altLang="en-US" dirty="0" err="1"/>
              <a:t>reliability</a:t>
            </a:r>
            <a:r>
              <a:rPr lang="ko-KR" altLang="en-US" dirty="0"/>
              <a:t>): </a:t>
            </a:r>
          </a:p>
          <a:p>
            <a:r>
              <a:rPr lang="ko-KR" altLang="en-US" dirty="0"/>
              <a:t>각 문항에서 </a:t>
            </a:r>
            <a:r>
              <a:rPr lang="ko-KR" altLang="en-US" dirty="0" err="1"/>
              <a:t>A</a:t>
            </a:r>
            <a:r>
              <a:rPr lang="ko-KR" altLang="en-US" dirty="0"/>
              <a:t>/</a:t>
            </a:r>
            <a:r>
              <a:rPr lang="ko-KR" altLang="en-US" dirty="0" err="1"/>
              <a:t>B</a:t>
            </a:r>
            <a:r>
              <a:rPr lang="ko-KR" altLang="en-US" dirty="0"/>
              <a:t> 선택 결과를 바탕으로 </a:t>
            </a:r>
            <a:r>
              <a:rPr lang="ko-KR" altLang="en-US" dirty="0" err="1"/>
              <a:t>Fleiss</a:t>
            </a:r>
            <a:r>
              <a:rPr lang="ko-KR" altLang="en-US" dirty="0"/>
              <a:t>’ </a:t>
            </a:r>
            <a:r>
              <a:rPr lang="ko-KR" altLang="en-US" dirty="0" err="1"/>
              <a:t>kappa를</a:t>
            </a:r>
            <a:r>
              <a:rPr lang="ko-KR" altLang="en-US" dirty="0"/>
              <a:t> 계산하여, </a:t>
            </a:r>
          </a:p>
          <a:p>
            <a:r>
              <a:rPr lang="ko-KR" altLang="en-US" dirty="0"/>
              <a:t>우연 수준을 보정한 평가자 간 합의도를 확인할 예정 (</a:t>
            </a:r>
            <a:r>
              <a:rPr lang="ko-KR" altLang="en-US" dirty="0" err="1"/>
              <a:t>R의</a:t>
            </a:r>
            <a:r>
              <a:rPr lang="ko-KR" altLang="en-US" dirty="0"/>
              <a:t> `</a:t>
            </a:r>
            <a:r>
              <a:rPr lang="ko-KR" altLang="en-US" dirty="0" err="1"/>
              <a:t>irr</a:t>
            </a:r>
            <a:r>
              <a:rPr lang="ko-KR" altLang="en-US" dirty="0"/>
              <a:t>` 패키지 활용)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53A80-BD71-FF7D-FC8C-1A934A201A91}"/>
              </a:ext>
            </a:extLst>
          </p:cNvPr>
          <p:cNvSpPr txBox="1"/>
          <p:nvPr/>
        </p:nvSpPr>
        <p:spPr>
          <a:xfrm>
            <a:off x="477325" y="1416340"/>
            <a:ext cx="10892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분석 방법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C70A8B-18B5-4715-4B5A-7D9C486960FC}"/>
              </a:ext>
            </a:extLst>
          </p:cNvPr>
          <p:cNvSpPr txBox="1"/>
          <p:nvPr/>
        </p:nvSpPr>
        <p:spPr>
          <a:xfrm>
            <a:off x="477325" y="3277408"/>
            <a:ext cx="102596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2)</a:t>
            </a:r>
            <a:r>
              <a:rPr lang="ko-KR" altLang="en-US" dirty="0"/>
              <a:t> 시스템 선호도 비교: </a:t>
            </a:r>
          </a:p>
          <a:p>
            <a:r>
              <a:rPr lang="ko-KR" altLang="en-US" dirty="0"/>
              <a:t>설문 결과를 연구자 전용 </a:t>
            </a:r>
            <a:r>
              <a:rPr lang="ko-KR" altLang="en-US" dirty="0" err="1"/>
              <a:t>keymap과</a:t>
            </a:r>
            <a:r>
              <a:rPr lang="ko-KR" altLang="en-US" dirty="0"/>
              <a:t> 매핑하여 </a:t>
            </a:r>
            <a:r>
              <a:rPr lang="ko-KR" altLang="en-US" dirty="0" err="1"/>
              <a:t>A</a:t>
            </a:r>
            <a:r>
              <a:rPr lang="ko-KR" altLang="en-US" dirty="0"/>
              <a:t>/</a:t>
            </a:r>
            <a:r>
              <a:rPr lang="ko-KR" altLang="en-US" dirty="0" err="1"/>
              <a:t>B가</a:t>
            </a:r>
            <a:r>
              <a:rPr lang="ko-KR" altLang="en-US" dirty="0"/>
              <a:t> </a:t>
            </a:r>
            <a:r>
              <a:rPr lang="ko-KR" altLang="en-US" dirty="0" err="1"/>
              <a:t>baseline</a:t>
            </a:r>
            <a:r>
              <a:rPr lang="ko-KR" altLang="en-US" dirty="0"/>
              <a:t>/</a:t>
            </a:r>
            <a:r>
              <a:rPr lang="ko-KR" altLang="en-US" dirty="0" err="1"/>
              <a:t>proposed</a:t>
            </a:r>
            <a:r>
              <a:rPr lang="ko-KR" altLang="en-US" dirty="0"/>
              <a:t> 중 어느 것인지 복원.</a:t>
            </a:r>
          </a:p>
          <a:p>
            <a:r>
              <a:rPr lang="ko-KR" altLang="en-US" dirty="0"/>
              <a:t>전체 응답에서 </a:t>
            </a:r>
            <a:r>
              <a:rPr lang="ko-KR" altLang="en-US" dirty="0" err="1"/>
              <a:t>proposed가</a:t>
            </a:r>
            <a:r>
              <a:rPr lang="ko-KR" altLang="en-US" dirty="0"/>
              <a:t> 선택된 비율을 집계하고, </a:t>
            </a:r>
          </a:p>
          <a:p>
            <a:r>
              <a:rPr lang="ko-KR" altLang="en-US" dirty="0" err="1"/>
              <a:t>baseline</a:t>
            </a:r>
            <a:r>
              <a:rPr lang="ko-KR" altLang="en-US" dirty="0"/>
              <a:t> 대비 유의하게 </a:t>
            </a:r>
            <a:r>
              <a:rPr lang="ko-KR" altLang="en-US" dirty="0" err="1"/>
              <a:t>높은지</a:t>
            </a:r>
            <a:r>
              <a:rPr lang="ko-KR" altLang="en-US" dirty="0"/>
              <a:t> </a:t>
            </a:r>
            <a:r>
              <a:rPr lang="ko-KR" altLang="en-US" dirty="0" err="1"/>
              <a:t>chi-square</a:t>
            </a:r>
            <a:r>
              <a:rPr lang="ko-KR" altLang="en-US" dirty="0"/>
              <a:t> </a:t>
            </a:r>
            <a:r>
              <a:rPr lang="ko-KR" altLang="en-US" dirty="0" err="1"/>
              <a:t>test로</a:t>
            </a:r>
            <a:r>
              <a:rPr lang="ko-KR" altLang="en-US" dirty="0"/>
              <a:t> 검증</a:t>
            </a:r>
          </a:p>
        </p:txBody>
      </p:sp>
    </p:spTree>
    <p:extLst>
      <p:ext uri="{BB962C8B-B14F-4D97-AF65-F5344CB8AC3E}">
        <p14:creationId xmlns:p14="http://schemas.microsoft.com/office/powerpoint/2010/main" val="3798115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780</Words>
  <Application>Microsoft Office PowerPoint</Application>
  <PresentationFormat>와이드스크린</PresentationFormat>
  <Paragraphs>41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윤이지</dc:creator>
  <cp:lastModifiedBy>윤이지</cp:lastModifiedBy>
  <cp:revision>7</cp:revision>
  <dcterms:created xsi:type="dcterms:W3CDTF">2025-08-30T06:40:03Z</dcterms:created>
  <dcterms:modified xsi:type="dcterms:W3CDTF">2025-08-30T16:44:07Z</dcterms:modified>
</cp:coreProperties>
</file>